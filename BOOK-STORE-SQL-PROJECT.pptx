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Nunito Semi Bold" panose="020B0604020202020204" charset="0"/>
      <p:regular r:id="rId17"/>
    </p:embeddedFont>
    <p:embeddedFont>
      <p:font typeface="PT Sans" panose="020B0503020203020204" pitchFamily="34" charset="0"/>
      <p:regular r:id="rId18"/>
      <p:bold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81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3008709"/>
            <a:ext cx="7371874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BOOK STORE SQL PROJECT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071699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Name: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Koushik Bera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Technology: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MySQL</a:t>
            </a:r>
            <a:endParaRPr lang="en-US" sz="185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Type: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Database Design &amp; SQL Analysis</a:t>
            </a:r>
            <a:endParaRPr lang="en-US" sz="1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37724" y="1475303"/>
            <a:ext cx="1590318" cy="449818"/>
          </a:xfrm>
          <a:prstGeom prst="roundRect">
            <a:avLst>
              <a:gd name="adj" fmla="val 63861"/>
            </a:avLst>
          </a:prstGeom>
          <a:solidFill>
            <a:srgbClr val="018CE1"/>
          </a:solidFill>
          <a:ln/>
        </p:spPr>
      </p:sp>
      <p:sp>
        <p:nvSpPr>
          <p:cNvPr id="4" name="Text 1"/>
          <p:cNvSpPr/>
          <p:nvPr/>
        </p:nvSpPr>
        <p:spPr>
          <a:xfrm>
            <a:off x="981313" y="1547098"/>
            <a:ext cx="1303139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INTRODUCTION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2020848"/>
            <a:ext cx="6895505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Designing a Book Store Database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837724" y="2943106"/>
            <a:ext cx="3614618" cy="2168962"/>
          </a:xfrm>
          <a:prstGeom prst="roundRect">
            <a:avLst>
              <a:gd name="adj" fmla="val 2648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9899" y="32052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Core Management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99899" y="3700820"/>
            <a:ext cx="309026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Manages books, customers, and orders efficiently.</a:t>
            </a:r>
            <a:endParaRPr lang="en-US" sz="1850" dirty="0"/>
          </a:p>
        </p:txBody>
      </p:sp>
      <p:sp>
        <p:nvSpPr>
          <p:cNvPr id="9" name="Shape 6"/>
          <p:cNvSpPr/>
          <p:nvPr/>
        </p:nvSpPr>
        <p:spPr>
          <a:xfrm>
            <a:off x="4691658" y="2943106"/>
            <a:ext cx="3614618" cy="2168962"/>
          </a:xfrm>
          <a:prstGeom prst="roundRect">
            <a:avLst>
              <a:gd name="adj" fmla="val 26488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53833" y="320528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Analytical Power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53833" y="3700820"/>
            <a:ext cx="309026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Enables deep analysis of sales, customer behavior, and inventory.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837724" y="5351383"/>
            <a:ext cx="7468553" cy="1402913"/>
          </a:xfrm>
          <a:prstGeom prst="roundRect">
            <a:avLst>
              <a:gd name="adj" fmla="val 40951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9899" y="561355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MySQL Foundation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99899" y="6109097"/>
            <a:ext cx="694420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Built using MySQL for robust database operations.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12784" y="1162802"/>
            <a:ext cx="4060627" cy="5075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Problem</a:t>
            </a:r>
            <a:r>
              <a:rPr lang="en-US" sz="36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 &amp; Solution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312784" y="2101729"/>
            <a:ext cx="243637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3600" b="1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Challenges Faced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1312784" y="2578693"/>
            <a:ext cx="492621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Manual record keeping leads to errors.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12784" y="2972744"/>
            <a:ext cx="492621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Difficulty in tracking stock and sales.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12783" y="3280246"/>
            <a:ext cx="492621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Lack of proper customer insights.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12784" y="3587748"/>
            <a:ext cx="4926211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150"/>
              </a:lnSpc>
              <a:buSzPct val="100000"/>
              <a:buChar char="•"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Time-consuming data retrieval processes.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667619" y="2101729"/>
            <a:ext cx="2436376" cy="3044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Our SQL Solution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667619" y="2578693"/>
            <a:ext cx="4926211" cy="551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6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structured relational database using SQL to overcome these challenges, ensuring accuracy and efficiency.</a:t>
            </a:r>
            <a:endParaRPr lang="en-US" sz="16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995" y="3248731"/>
            <a:ext cx="4926211" cy="492621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33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379" y="588764"/>
            <a:ext cx="1634371" cy="402431"/>
          </a:xfrm>
          <a:prstGeom prst="roundRect">
            <a:avLst>
              <a:gd name="adj" fmla="val 63852"/>
            </a:avLst>
          </a:prstGeom>
          <a:solidFill>
            <a:srgbClr val="DA33BF"/>
          </a:solidFill>
          <a:ln/>
        </p:spPr>
      </p:sp>
      <p:sp>
        <p:nvSpPr>
          <p:cNvPr id="4" name="Text 1"/>
          <p:cNvSpPr/>
          <p:nvPr/>
        </p:nvSpPr>
        <p:spPr>
          <a:xfrm>
            <a:off x="877848" y="652939"/>
            <a:ext cx="1377434" cy="274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PROJECT PURPOSE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49379" y="1076801"/>
            <a:ext cx="5311973" cy="5037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Driving Business Intelligence</a:t>
            </a:r>
            <a:endParaRPr lang="en-US" sz="3150" dirty="0"/>
          </a:p>
        </p:txBody>
      </p:sp>
      <p:sp>
        <p:nvSpPr>
          <p:cNvPr id="6" name="Shape 3"/>
          <p:cNvSpPr/>
          <p:nvPr/>
        </p:nvSpPr>
        <p:spPr>
          <a:xfrm>
            <a:off x="749379" y="1901666"/>
            <a:ext cx="7645241" cy="1274921"/>
          </a:xfrm>
          <a:prstGeom prst="roundRect">
            <a:avLst>
              <a:gd name="adj" fmla="val 11476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18899" y="1901666"/>
            <a:ext cx="121920" cy="1274921"/>
          </a:xfrm>
          <a:prstGeom prst="roundRect">
            <a:avLst>
              <a:gd name="adj" fmla="val 263450"/>
            </a:avLst>
          </a:prstGeom>
          <a:solidFill>
            <a:srgbClr val="2D4DF2"/>
          </a:solidFill>
          <a:ln/>
        </p:spPr>
      </p:sp>
      <p:sp>
        <p:nvSpPr>
          <p:cNvPr id="8" name="Text 5"/>
          <p:cNvSpPr/>
          <p:nvPr/>
        </p:nvSpPr>
        <p:spPr>
          <a:xfrm>
            <a:off x="1085374" y="2146221"/>
            <a:ext cx="251912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Storage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85374" y="2589609"/>
            <a:ext cx="706469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Securely store book, customer, and order data.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749379" y="3390662"/>
            <a:ext cx="7645241" cy="1274921"/>
          </a:xfrm>
          <a:prstGeom prst="roundRect">
            <a:avLst>
              <a:gd name="adj" fmla="val 11476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018CE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8899" y="3390662"/>
            <a:ext cx="121920" cy="1274921"/>
          </a:xfrm>
          <a:prstGeom prst="roundRect">
            <a:avLst>
              <a:gd name="adj" fmla="val 263450"/>
            </a:avLst>
          </a:prstGeom>
          <a:solidFill>
            <a:srgbClr val="018CE1"/>
          </a:solidFill>
          <a:ln/>
        </p:spPr>
      </p:sp>
      <p:sp>
        <p:nvSpPr>
          <p:cNvPr id="12" name="Text 9"/>
          <p:cNvSpPr/>
          <p:nvPr/>
        </p:nvSpPr>
        <p:spPr>
          <a:xfrm>
            <a:off x="1085374" y="3635216"/>
            <a:ext cx="3008471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Relationship Management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085374" y="4078605"/>
            <a:ext cx="706469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Maintain data integrity using primary and foreign keys.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749379" y="4879658"/>
            <a:ext cx="7645241" cy="1274921"/>
          </a:xfrm>
          <a:prstGeom prst="roundRect">
            <a:avLst>
              <a:gd name="adj" fmla="val 11476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DA33B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18899" y="4879658"/>
            <a:ext cx="121920" cy="1274921"/>
          </a:xfrm>
          <a:prstGeom prst="roundRect">
            <a:avLst>
              <a:gd name="adj" fmla="val 263450"/>
            </a:avLst>
          </a:prstGeom>
          <a:solidFill>
            <a:srgbClr val="DA33BF"/>
          </a:solidFill>
          <a:ln/>
        </p:spPr>
      </p:sp>
      <p:sp>
        <p:nvSpPr>
          <p:cNvPr id="16" name="Text 13"/>
          <p:cNvSpPr/>
          <p:nvPr/>
        </p:nvSpPr>
        <p:spPr>
          <a:xfrm>
            <a:off x="1085374" y="5124212"/>
            <a:ext cx="251912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Reporting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085374" y="5567601"/>
            <a:ext cx="706469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Generate comprehensive sales and revenue reports.</a:t>
            </a:r>
            <a:endParaRPr lang="en-US" sz="1650" dirty="0"/>
          </a:p>
        </p:txBody>
      </p:sp>
      <p:sp>
        <p:nvSpPr>
          <p:cNvPr id="18" name="Shape 15"/>
          <p:cNvSpPr/>
          <p:nvPr/>
        </p:nvSpPr>
        <p:spPr>
          <a:xfrm>
            <a:off x="749379" y="6368653"/>
            <a:ext cx="7645241" cy="1274921"/>
          </a:xfrm>
          <a:prstGeom prst="roundRect">
            <a:avLst>
              <a:gd name="adj" fmla="val 11476"/>
            </a:avLst>
          </a:prstGeom>
          <a:solidFill>
            <a:srgbClr val="F3F3FF">
              <a:alpha val="75000"/>
            </a:srgbClr>
          </a:solidFill>
          <a:ln w="30480">
            <a:solidFill>
              <a:srgbClr val="2D4D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8899" y="6368653"/>
            <a:ext cx="121920" cy="1274921"/>
          </a:xfrm>
          <a:prstGeom prst="roundRect">
            <a:avLst>
              <a:gd name="adj" fmla="val 263450"/>
            </a:avLst>
          </a:prstGeom>
          <a:solidFill>
            <a:srgbClr val="2D4DF2"/>
          </a:solidFill>
          <a:ln/>
        </p:spPr>
      </p:sp>
      <p:sp>
        <p:nvSpPr>
          <p:cNvPr id="20" name="Text 17"/>
          <p:cNvSpPr/>
          <p:nvPr/>
        </p:nvSpPr>
        <p:spPr>
          <a:xfrm>
            <a:off x="1085374" y="6613207"/>
            <a:ext cx="2519124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Decision Support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085374" y="7056596"/>
            <a:ext cx="7064693" cy="3424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 insights to support informed business decisions.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04330" y="556974"/>
            <a:ext cx="6902172" cy="5938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50"/>
              </a:lnSpc>
              <a:buNone/>
            </a:pPr>
            <a:r>
              <a:rPr lang="en-US" sz="37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Database Overview: book_store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7569160" y="1655683"/>
            <a:ext cx="2850952" cy="3563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Key Components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569160" y="2213967"/>
            <a:ext cx="576453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Database Name: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book_store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7569160" y="2607588"/>
            <a:ext cx="576453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Tables: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Books, Customers, Orders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569160" y="3001208"/>
            <a:ext cx="5764530" cy="323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Keys Used:</a:t>
            </a:r>
            <a:r>
              <a:rPr lang="en-US" sz="15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Primary Key, Foreign Key</a:t>
            </a:r>
            <a:endParaRPr lang="en-US" sz="15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F978A7C-D3D1-268C-A402-D9F6D02AD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01" y="1475237"/>
            <a:ext cx="6201640" cy="18004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2E3BB6-7549-86AC-E4DD-FE3A95B6B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601" y="3762533"/>
            <a:ext cx="6392167" cy="189574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F19C130-489A-F109-6179-BB4B0498C7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124" y="6055711"/>
            <a:ext cx="4296375" cy="188621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2C1B537-8C93-5172-BFCF-7022E1044D40}"/>
              </a:ext>
            </a:extLst>
          </p:cNvPr>
          <p:cNvSpPr txBox="1"/>
          <p:nvPr/>
        </p:nvSpPr>
        <p:spPr>
          <a:xfrm>
            <a:off x="1037690" y="1118140"/>
            <a:ext cx="18042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Customers Table </a:t>
            </a:r>
            <a:endParaRPr lang="en-IN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52A2E25-CC09-63E4-D7B2-85F3A960AC66}"/>
              </a:ext>
            </a:extLst>
          </p:cNvPr>
          <p:cNvSpPr txBox="1"/>
          <p:nvPr/>
        </p:nvSpPr>
        <p:spPr>
          <a:xfrm>
            <a:off x="1037690" y="3448144"/>
            <a:ext cx="1319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Books Table</a:t>
            </a:r>
            <a:endParaRPr lang="en-IN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1C9FD3-0894-5571-CBA2-ED628C0B7F11}"/>
              </a:ext>
            </a:extLst>
          </p:cNvPr>
          <p:cNvSpPr txBox="1"/>
          <p:nvPr/>
        </p:nvSpPr>
        <p:spPr>
          <a:xfrm>
            <a:off x="1037690" y="5702722"/>
            <a:ext cx="1386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Orders Table</a:t>
            </a:r>
            <a:endParaRPr lang="en-IN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695920"/>
            <a:ext cx="1443395" cy="449818"/>
          </a:xfrm>
          <a:prstGeom prst="roundRect">
            <a:avLst>
              <a:gd name="adj" fmla="val 63861"/>
            </a:avLst>
          </a:prstGeom>
          <a:solidFill>
            <a:srgbClr val="2D4DF2"/>
          </a:solidFill>
          <a:ln/>
        </p:spPr>
      </p:sp>
      <p:sp>
        <p:nvSpPr>
          <p:cNvPr id="3" name="Text 1"/>
          <p:cNvSpPr/>
          <p:nvPr/>
        </p:nvSpPr>
        <p:spPr>
          <a:xfrm>
            <a:off x="981313" y="767715"/>
            <a:ext cx="115621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BOOKS TABLE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37724" y="1241465"/>
            <a:ext cx="5131118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Managing Your Inventory</a:t>
            </a:r>
            <a:endParaRPr lang="en-US" sz="3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432923"/>
            <a:ext cx="4831556" cy="48315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60783" y="2403038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Table: </a:t>
            </a:r>
            <a:r>
              <a:rPr lang="en-US" sz="2650" dirty="0">
                <a:solidFill>
                  <a:srgbClr val="2D4DF2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books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6260783" y="3064669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Book_ID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(Primary Key)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6260783" y="3531394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Title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6260783" y="3998119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Author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260783" y="4464844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Genre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260783" y="4931569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Published_Year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260783" y="5398294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Price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6260783" y="5865019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Stock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6260783" y="6463427"/>
            <a:ext cx="753939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This table is crucial for efficient inventory management and tracking.</a:t>
            </a:r>
            <a:endParaRPr lang="en-US" sz="1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41032" y="442079"/>
            <a:ext cx="3773924" cy="471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Customers &amp; Orders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1914308" y="1302941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Customers Table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2541032" y="6536888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Customer_ID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(PK)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2541032" y="6849547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Name, Email, Phone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2541032" y="7162205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City, Country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518321" y="1314688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Orders Table</a:t>
            </a:r>
            <a:endParaRPr lang="en-US" sz="1750" dirty="0"/>
          </a:p>
        </p:txBody>
      </p:sp>
      <p:sp>
        <p:nvSpPr>
          <p:cNvPr id="10" name="Text 6"/>
          <p:cNvSpPr/>
          <p:nvPr/>
        </p:nvSpPr>
        <p:spPr>
          <a:xfrm>
            <a:off x="7518321" y="6536888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Order_ID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(PK)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7518321" y="6849547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Customer_ID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(FK)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7518321" y="7162205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Book_ID</a:t>
            </a:r>
            <a:r>
              <a:rPr lang="en-US" sz="12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(FK)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518321" y="7474863"/>
            <a:ext cx="4578429" cy="2565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00"/>
              </a:lnSpc>
              <a:buSzPct val="100000"/>
              <a:buChar char="•"/>
            </a:pPr>
            <a:r>
              <a:rPr lang="en-US" sz="1250" b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Quantity, Total_Amount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FE2D941-B2B0-D733-21CA-812DA9D96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3029" y="1730483"/>
            <a:ext cx="4155509" cy="173447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59947E2-4D21-7AAA-9C7B-BA6337BD35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070" y="3944699"/>
            <a:ext cx="4974701" cy="182905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7D3863F-E785-5EEB-CFC6-456FB9D345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9430" y="1730483"/>
            <a:ext cx="4382112" cy="198147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A8A9E1C-EFF1-3813-0B6B-FD922DFEDE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956" y="3889395"/>
            <a:ext cx="4490337" cy="1977767"/>
          </a:xfrm>
          <a:prstGeom prst="rect">
            <a:avLst/>
          </a:prstGeom>
        </p:spPr>
      </p:pic>
      <p:sp>
        <p:nvSpPr>
          <p:cNvPr id="22" name="Text 5">
            <a:extLst>
              <a:ext uri="{FF2B5EF4-FFF2-40B4-BE49-F238E27FC236}">
                <a16:creationId xmlns:a16="http://schemas.microsoft.com/office/drawing/2014/main" id="{0000DCAA-EF14-711F-849B-8E7A04B4BB38}"/>
              </a:ext>
            </a:extLst>
          </p:cNvPr>
          <p:cNvSpPr/>
          <p:nvPr/>
        </p:nvSpPr>
        <p:spPr>
          <a:xfrm>
            <a:off x="11667368" y="1177607"/>
            <a:ext cx="2264331" cy="28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Books Table</a:t>
            </a:r>
            <a:endParaRPr lang="en-US" sz="17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CDCD175-F866-B636-3A55-521A620070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05993" y="1730483"/>
            <a:ext cx="3234015" cy="198147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130110E1-EA1F-DF86-0249-71229F1CE6E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05992" y="3944699"/>
            <a:ext cx="3414927" cy="186716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24124" y="1226463"/>
            <a:ext cx="1788795" cy="449818"/>
          </a:xfrm>
          <a:prstGeom prst="roundRect">
            <a:avLst>
              <a:gd name="adj" fmla="val 63861"/>
            </a:avLst>
          </a:prstGeom>
          <a:solidFill>
            <a:srgbClr val="DA33BF"/>
          </a:solidFill>
          <a:ln/>
        </p:spPr>
      </p:sp>
      <p:sp>
        <p:nvSpPr>
          <p:cNvPr id="4" name="Text 1"/>
          <p:cNvSpPr/>
          <p:nvPr/>
        </p:nvSpPr>
        <p:spPr>
          <a:xfrm>
            <a:off x="6467713" y="1298258"/>
            <a:ext cx="1501616" cy="306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EXECUTION FLOW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324124" y="1772007"/>
            <a:ext cx="4505920" cy="5632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From Input to Insight</a:t>
            </a:r>
            <a:endParaRPr lang="en-US" sz="35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694265"/>
            <a:ext cx="1196816" cy="14362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60256" y="293358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Input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760256" y="3429119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Book data, Customer data, Order transactions.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4124" y="4130516"/>
            <a:ext cx="1196816" cy="143625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60256" y="436983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Processing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760256" y="4865370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SQL queries, JOIN, GROUP BY for data manipulation.</a:t>
            </a:r>
            <a:endParaRPr lang="en-US" sz="18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124" y="5566767"/>
            <a:ext cx="1196816" cy="1436251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60256" y="580608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Output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760256" y="6301621"/>
            <a:ext cx="60324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Revenue, Best-selling books, Remaining stock reports.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68122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SQL Implementation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350889"/>
            <a:ext cx="12954952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Visualizing the database structure and query results from MySQL Workbench.</a:t>
            </a:r>
            <a:endParaRPr lang="en-US" sz="1850" dirty="0"/>
          </a:p>
        </p:txBody>
      </p:sp>
      <p:sp>
        <p:nvSpPr>
          <p:cNvPr id="8" name="Text 2"/>
          <p:cNvSpPr/>
          <p:nvPr/>
        </p:nvSpPr>
        <p:spPr>
          <a:xfrm>
            <a:off x="837724" y="6670834"/>
            <a:ext cx="12954952" cy="3906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Key SQL commands utilized: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SELECT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JOIN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SUM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, </a:t>
            </a:r>
            <a:r>
              <a:rPr lang="en-US" sz="1850" dirty="0">
                <a:solidFill>
                  <a:srgbClr val="00002E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COUNT</a:t>
            </a:r>
            <a:r>
              <a:rPr lang="en-US" sz="18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.</a:t>
            </a:r>
            <a:endParaRPr lang="en-US" sz="1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F14030-C001-0ED5-8EFF-C86EDA9EAF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724" y="2910433"/>
            <a:ext cx="4420217" cy="138131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8EF2879-E165-5927-64DF-D4F1A01894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7527" y="5070846"/>
            <a:ext cx="3022428" cy="752572"/>
          </a:xfrm>
          <a:prstGeom prst="rect">
            <a:avLst/>
          </a:prstGeom>
        </p:spPr>
      </p:pic>
      <p:sp>
        <p:nvSpPr>
          <p:cNvPr id="13" name="Arrow: Down 12">
            <a:extLst>
              <a:ext uri="{FF2B5EF4-FFF2-40B4-BE49-F238E27FC236}">
                <a16:creationId xmlns:a16="http://schemas.microsoft.com/office/drawing/2014/main" id="{D8F47B06-12E1-E468-BDDE-1A7F801288F7}"/>
              </a:ext>
            </a:extLst>
          </p:cNvPr>
          <p:cNvSpPr/>
          <p:nvPr/>
        </p:nvSpPr>
        <p:spPr>
          <a:xfrm>
            <a:off x="2361613" y="4512969"/>
            <a:ext cx="267128" cy="390644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A93A9B-92F4-7947-20F2-4D73D71B81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7796" y="2910433"/>
            <a:ext cx="3478397" cy="10764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1301859-9BDE-C753-618D-BA36488C0C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0214" y="4494499"/>
            <a:ext cx="2019582" cy="1905266"/>
          </a:xfrm>
          <a:prstGeom prst="rect">
            <a:avLst/>
          </a:prstGeom>
        </p:spPr>
      </p:pic>
      <p:sp>
        <p:nvSpPr>
          <p:cNvPr id="18" name="Arrow: Down 17">
            <a:extLst>
              <a:ext uri="{FF2B5EF4-FFF2-40B4-BE49-F238E27FC236}">
                <a16:creationId xmlns:a16="http://schemas.microsoft.com/office/drawing/2014/main" id="{661E5D4C-CBBE-AAE7-BA4D-563B79B98CAD}"/>
              </a:ext>
            </a:extLst>
          </p:cNvPr>
          <p:cNvSpPr/>
          <p:nvPr/>
        </p:nvSpPr>
        <p:spPr>
          <a:xfrm>
            <a:off x="7480005" y="4028108"/>
            <a:ext cx="267128" cy="390644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DBCB44DC-6AB0-48EB-6BEB-9410BEEFC1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44380" y="2872327"/>
            <a:ext cx="4191585" cy="111458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4AC2B9D9-A0CC-EE2F-8157-A52564448E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820055" y="4567653"/>
            <a:ext cx="2333951" cy="1905266"/>
          </a:xfrm>
          <a:prstGeom prst="rect">
            <a:avLst/>
          </a:prstGeom>
        </p:spPr>
      </p:pic>
      <p:sp>
        <p:nvSpPr>
          <p:cNvPr id="25" name="Arrow: Down 24">
            <a:extLst>
              <a:ext uri="{FF2B5EF4-FFF2-40B4-BE49-F238E27FC236}">
                <a16:creationId xmlns:a16="http://schemas.microsoft.com/office/drawing/2014/main" id="{6145B14E-4B1B-02DF-EB57-8B8E1E285405}"/>
              </a:ext>
            </a:extLst>
          </p:cNvPr>
          <p:cNvSpPr/>
          <p:nvPr/>
        </p:nvSpPr>
        <p:spPr>
          <a:xfrm>
            <a:off x="11719902" y="4048166"/>
            <a:ext cx="267128" cy="390644"/>
          </a:xfrm>
          <a:prstGeom prst="down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7762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5696" y="3510677"/>
            <a:ext cx="1347788" cy="432792"/>
          </a:xfrm>
          <a:prstGeom prst="roundRect">
            <a:avLst>
              <a:gd name="adj" fmla="val 63831"/>
            </a:avLst>
          </a:prstGeom>
          <a:solidFill>
            <a:srgbClr val="018CE1"/>
          </a:solidFill>
          <a:ln/>
        </p:spPr>
      </p:sp>
      <p:sp>
        <p:nvSpPr>
          <p:cNvPr id="4" name="Text 1"/>
          <p:cNvSpPr/>
          <p:nvPr/>
        </p:nvSpPr>
        <p:spPr>
          <a:xfrm>
            <a:off x="943808" y="3579733"/>
            <a:ext cx="107156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CONCLUSION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805696" y="4035504"/>
            <a:ext cx="5157311" cy="5417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250"/>
              </a:lnSpc>
              <a:buNone/>
            </a:pPr>
            <a:r>
              <a:rPr lang="en-US" sz="34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Project Outcome &amp; Impact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805696" y="4922520"/>
            <a:ext cx="517922" cy="517922"/>
          </a:xfrm>
          <a:prstGeom prst="roundRect">
            <a:avLst>
              <a:gd name="adj" fmla="val 6667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02196" y="4978360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1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1553766" y="5001578"/>
            <a:ext cx="2919770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Real-World Application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1553766" y="5478185"/>
            <a:ext cx="5617607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Demonstrates practical SQL database design skills.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59027" y="4922520"/>
            <a:ext cx="517922" cy="517922"/>
          </a:xfrm>
          <a:prstGeom prst="roundRect">
            <a:avLst>
              <a:gd name="adj" fmla="val 66675"/>
            </a:avLst>
          </a:prstGeom>
          <a:solidFill>
            <a:srgbClr val="F3F3FF"/>
          </a:solidFill>
          <a:ln w="22860">
            <a:solidFill>
              <a:srgbClr val="018C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55528" y="4978360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2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8207097" y="5001578"/>
            <a:ext cx="270831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Data Integrity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207097" y="5478185"/>
            <a:ext cx="5617607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Ensures proper data relationships and consistency.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805696" y="6306979"/>
            <a:ext cx="517922" cy="517922"/>
          </a:xfrm>
          <a:prstGeom prst="roundRect">
            <a:avLst>
              <a:gd name="adj" fmla="val 66675"/>
            </a:avLst>
          </a:prstGeom>
          <a:solidFill>
            <a:srgbClr val="F3F3FF"/>
          </a:solidFill>
          <a:ln w="22860">
            <a:solidFill>
              <a:srgbClr val="DA33B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2196" y="6362819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3</a:t>
            </a:r>
            <a:endParaRPr lang="en-US" sz="2550" dirty="0"/>
          </a:p>
        </p:txBody>
      </p:sp>
      <p:sp>
        <p:nvSpPr>
          <p:cNvPr id="16" name="Text 13"/>
          <p:cNvSpPr/>
          <p:nvPr/>
        </p:nvSpPr>
        <p:spPr>
          <a:xfrm>
            <a:off x="1553766" y="6386036"/>
            <a:ext cx="2708315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Business Analysis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1553766" y="6862643"/>
            <a:ext cx="5617607" cy="3683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Provides useful insights for strategic decision-making.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7459027" y="6306979"/>
            <a:ext cx="517922" cy="517922"/>
          </a:xfrm>
          <a:prstGeom prst="roundRect">
            <a:avLst>
              <a:gd name="adj" fmla="val 66675"/>
            </a:avLst>
          </a:prstGeom>
          <a:solidFill>
            <a:srgbClr val="F3F3FF"/>
          </a:solidFill>
          <a:ln w="22860">
            <a:solidFill>
              <a:srgbClr val="2D4D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55528" y="6362819"/>
            <a:ext cx="324922" cy="406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5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4</a:t>
            </a:r>
            <a:endParaRPr lang="en-US" sz="2550" dirty="0"/>
          </a:p>
        </p:txBody>
      </p:sp>
      <p:sp>
        <p:nvSpPr>
          <p:cNvPr id="20" name="Text 17"/>
          <p:cNvSpPr/>
          <p:nvPr/>
        </p:nvSpPr>
        <p:spPr>
          <a:xfrm>
            <a:off x="8207097" y="6386036"/>
            <a:ext cx="3469958" cy="338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00002E"/>
                </a:solidFill>
                <a:latin typeface="Nunito Semi Bold" pitchFamily="34" charset="0"/>
                <a:ea typeface="Nunito Semi Bold" pitchFamily="34" charset="-122"/>
                <a:cs typeface="Nunito Semi Bold" pitchFamily="34" charset="-120"/>
              </a:rPr>
              <a:t>Academic &amp; Interview Asset</a:t>
            </a:r>
            <a:endParaRPr lang="en-US" sz="2100" dirty="0"/>
          </a:p>
        </p:txBody>
      </p:sp>
      <p:sp>
        <p:nvSpPr>
          <p:cNvPr id="21" name="Text 18"/>
          <p:cNvSpPr/>
          <p:nvPr/>
        </p:nvSpPr>
        <p:spPr>
          <a:xfrm>
            <a:off x="8207097" y="6862643"/>
            <a:ext cx="5617607" cy="736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 strong project for academic portfolios and job interviews.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398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PT Sans</vt:lpstr>
      <vt:lpstr>Nunito Semi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koushik bera</cp:lastModifiedBy>
  <cp:revision>3</cp:revision>
  <dcterms:created xsi:type="dcterms:W3CDTF">2026-01-14T18:08:41Z</dcterms:created>
  <dcterms:modified xsi:type="dcterms:W3CDTF">2026-01-15T16:55:55Z</dcterms:modified>
</cp:coreProperties>
</file>